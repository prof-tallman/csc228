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82FCC9-3644-4D5E-B266-C201CCD6D042}">
  <a:tblStyle styleId="{AF82FCC9-3644-4D5E-B266-C201CCD6D0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f6bafc694a3f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5f6bafc694a3f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introduce self and family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15 years as cybersecurity consultant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7 years in Europe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Twin daughters were born in Europe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Older daughter lived golden childhood there (just got driver's license)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5f6bafc694a3f8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5f6bafc694a3f8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f6bafc694a3f8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5f6bafc694a3f8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5f6bafc694a3f8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5f6bafc694a3f8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5f6bafc694a3f8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5f6bafc694a3f8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f6bafc694a3f8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5f6bafc694a3f8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f6bafc694a3f8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5f6bafc694a3f8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f6bafc694a3f8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5f6bafc694a3f8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f6bafc694a3f8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f6bafc694a3f8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5f6bafc694a3f8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5f6bafc694a3f8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f6bafc694a3f8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f6bafc694a3f8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f6bafc694a3f8e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f6bafc694a3f8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f6bafc694a3f8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5f6bafc694a3f8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f6bafc694a3f8e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5f6bafc694a3f8e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172e69ba4b8185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172e69ba4b8185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5f6bafc694a3f8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5f6bafc694a3f8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5f6bafc694a3f8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5f6bafc694a3f8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f6bafc694a3f8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5f6bafc694a3f8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f6bafc694a3f8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5f6bafc694a3f8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5f6bafc694a3f8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5f6bafc694a3f8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172e69ba4b81852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172e69ba4b8185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172e69ba4b81852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172e69ba4b81852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5f6bafc694a3f8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5f6bafc694a3f8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5f6bafc694a3f8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5f6bafc694a3f8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5f6bafc694a3f8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5f6bafc694a3f8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f6bafc694a3f8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f6bafc694a3f8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5f6bafc694a3f8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5f6bafc694a3f8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5f6bafc694a3f8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5f6bafc694a3f8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172e69ba4b81852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172e69ba4b81852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6ed18839d9b5fccc_1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6ed18839d9b5fccc_1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hyperlink" Target="https://sec.cloudapps.cisco.com/security/center/content/CiscoSecurityAdvisory/cisco-sa-cimc-cmd-inj-3hKN3bVt" TargetMode="External"/><Relationship Id="rId7" Type="http://schemas.openxmlformats.org/officeDocument/2006/relationships/hyperlink" Target="https://horizon3.ai/attack-research/disclosures/cve-2026-9586-sangoma-switchvox-rce/" TargetMode="External"/><Relationship Id="rId8" Type="http://schemas.openxmlformats.org/officeDocument/2006/relationships/hyperlink" Target="https://sec.cloudapps.cisco.com/security/center/content/CiscoSecurityAdvisory/cisco-sa-esa-inj-2bLVGmhX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10250"/>
            <a:ext cx="8520600" cy="15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Injection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Attacks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en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and how to stop them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953200" y="3027550"/>
            <a:ext cx="2879100" cy="18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Joshua Tallman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Concordia University Irvine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Associate Professor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Computer Science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Cybersecurity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3" title="Glossy Forest Green Hawk 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825" y="3027550"/>
            <a:ext cx="1878351" cy="18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lossy Family Mountain Lake Self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Plan for Today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972500" cy="36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Wifi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: CUI-Shared / Crumbs-Uncover-Intent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Three website vulnerabilities: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685800" rtl="0" algn="l">
              <a:spcBef>
                <a:spcPts val="12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URL Injection (real / walkthrough)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6858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SQL Injection (fake / activity)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6858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Command Injection (time?)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We will explore each problem and solution, closing with injection examples from 2026.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No technical background is assumed.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5" title="Confident Cybersecurity White Hat Hack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1831" y="240549"/>
            <a:ext cx="3461726" cy="43256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551850" y="4637125"/>
            <a:ext cx="34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Image generated by OpenAI tools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Vulnerability #1: URL Injection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Screenshot 2026-10-10 at 10.18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25" y="0"/>
            <a:ext cx="79143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415350" y="1708127"/>
            <a:ext cx="8313300" cy="124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https://abcinternet.co.uk/SECURE/cloudysidefarms.com/iorder.php?items=[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Medium^Fruit^Veg^&amp;^Salad|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28|0|0|{3~1000~28.00~0}{1~2~28.00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~0}|1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]&amp;refepath=none&amp;cn=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15350" y="1708127"/>
            <a:ext cx="8313300" cy="124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https://abcinternet.co.uk/SECURE/cloudysidefarms.com/iorder.php?items=[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Medium^Fruit^Veg^&amp;^Salad|</a:t>
            </a:r>
            <a:r>
              <a:rPr b="1" lang="en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|0|0|{3~1000~</a:t>
            </a:r>
            <a:r>
              <a:rPr b="1" lang="en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28.00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~0}{1~2~</a:t>
            </a:r>
            <a:r>
              <a:rPr b="1" lang="en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28.00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~0}|1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]&amp;refepath=none&amp;cn=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Screenshot 2026-10-10 at 10.18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25" y="0"/>
            <a:ext cx="79143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415350" y="1906363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https://cloudysidefarms.com/collections/delivery-boxes/products/fresh-fruit-veg-salad-box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4146050" y="2997775"/>
            <a:ext cx="4582800" cy="197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" marR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their server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2880" marR="18288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hWNHoZ3cBExWK26zHanOtDVg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571500" marR="1828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 Fruit Veg &amp; Salad Box</a:t>
            </a:r>
            <a:b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Qty: 1 @ 28.00 each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15350" y="2997775"/>
            <a:ext cx="3556500" cy="197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" marR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on my computer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2880" marR="18288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hWNHoZ3cBExWK26zHanOtDVg?key=b296963f3523846b75b6ed0e8383a859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Lesson #1: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Your website shouldn't ask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customer</a:t>
            </a:r>
            <a:br>
              <a:rPr lang="en" sz="3000">
                <a:latin typeface="Calibri"/>
                <a:ea typeface="Calibri"/>
                <a:cs typeface="Calibri"/>
                <a:sym typeface="Calibri"/>
              </a:rPr>
            </a:br>
            <a:r>
              <a:rPr lang="en" sz="3000">
                <a:latin typeface="Calibri"/>
                <a:ea typeface="Calibri"/>
                <a:cs typeface="Calibri"/>
                <a:sym typeface="Calibri"/>
              </a:rPr>
              <a:t>how much to charge them.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Never trust client-provided information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without server-side validation.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Vulnerability #2: SQL Injection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Screenshot 2026-10-10 at 1.4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300" y="152400"/>
            <a:ext cx="730140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415350" y="2389825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looking at here?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Screenshot 2026-10-10 at 3.36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24" y="0"/>
            <a:ext cx="7241851" cy="470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 title="Screenshot 2026-10-10 at 3.39.3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4550" y="255100"/>
            <a:ext cx="7181824" cy="488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/>
          <p:nvPr/>
        </p:nvSpPr>
        <p:spPr>
          <a:xfrm>
            <a:off x="415350" y="2389825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web pages query a backend database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 title="Screenshot 2026-10-10 at 3.45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25" y="0"/>
            <a:ext cx="81217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/>
          <p:nvPr/>
        </p:nvSpPr>
        <p:spPr>
          <a:xfrm>
            <a:off x="415350" y="2389825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 are 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a giant spreadsheet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(it helps to know the internal layout)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121950" y="1240032"/>
            <a:ext cx="89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bat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avg, hrs, era FROM players WHERE team = 'Padres'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name,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bat_avg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hrs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era FROM players WHERE team = 'Dodgers'</a:t>
            </a:r>
            <a:endParaRPr b="1" sz="1600">
              <a:solidFill>
                <a:srgbClr val="CC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Possible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Queries from Web Server to Database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4"/>
          <p:cNvSpPr txBox="1"/>
          <p:nvPr/>
        </p:nvSpPr>
        <p:spPr>
          <a:xfrm>
            <a:off x="121950" y="2313040"/>
            <a:ext cx="89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item, price, qty FROM stock WHERE kind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'Tools' ORDER BY price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item, price, qty FROM stock WHERE kind = 'Sales' ORDER BY qty</a:t>
            </a:r>
            <a:endParaRPr b="1" sz="1600">
              <a:solidFill>
                <a:srgbClr val="CC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121950" y="3386067"/>
            <a:ext cx="89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temp, rain FROM weather WHERE year = 2026 AND month = 'Jan'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lang="en" sz="16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temp, rain FROM weather WHERE month = 'Feb' OR month = 'Feb'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 title="Screenshot 2026-10-12 at 11.14.22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-450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/>
          <p:nvPr/>
        </p:nvSpPr>
        <p:spPr>
          <a:xfrm rot="-4423897">
            <a:off x="7815111" y="220208"/>
            <a:ext cx="336264" cy="590604"/>
          </a:xfrm>
          <a:prstGeom prst="up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1543925" y="877750"/>
            <a:ext cx="2919000" cy="52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/>
        </p:nvSpPr>
        <p:spPr>
          <a:xfrm>
            <a:off x="4534825" y="877750"/>
            <a:ext cx="3061500" cy="52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>
            <a:off x="1543925" y="1528700"/>
            <a:ext cx="6052500" cy="62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543925" y="2278950"/>
            <a:ext cx="6052500" cy="2226000"/>
          </a:xfrm>
          <a:prstGeom prst="roundRect">
            <a:avLst>
              <a:gd fmla="val 523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 title="Screenshot 2026-10-12 at 11.12.35 PM.png"/>
          <p:cNvPicPr preferRelativeResize="0"/>
          <p:nvPr/>
        </p:nvPicPr>
        <p:blipFill rotWithShape="1">
          <a:blip r:embed="rId3">
            <a:alphaModFix/>
          </a:blip>
          <a:srcRect b="0" l="0" r="0" t="999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1543925" y="3384750"/>
            <a:ext cx="6052500" cy="1264800"/>
          </a:xfrm>
          <a:prstGeom prst="roundRect">
            <a:avLst>
              <a:gd fmla="val 11626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415350" y="1706875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made us a cheat code since we are new to SQL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(experienced hackers can reason and guess their way through this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- Read / Reveal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the SEARCH button to display the details of company with id=1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Analyze the SQL Statement using the cheat window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Devise a sneaky SQL statement that would display details from other company details than you are not supposed to know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 backwards to calculate the </a:t>
            </a:r>
            <a:r>
              <a:rPr i="1" lang="en"/>
              <a:t>search term</a:t>
            </a:r>
            <a:r>
              <a:rPr lang="en"/>
              <a:t> that would generate the sneaky backend SQL statement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Profit!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 title="Screenshot 2026-10-12 at 11.14.22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-4500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/>
          <p:nvPr/>
        </p:nvSpPr>
        <p:spPr>
          <a:xfrm>
            <a:off x="415350" y="1408649"/>
            <a:ext cx="8313300" cy="232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SELECT id, contact, …, state, email</a:t>
            </a:r>
            <a:endParaRPr b="1" sz="3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FROM customers</a:t>
            </a: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WHERE id = 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 or id &gt; 1</a:t>
            </a: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ORDER BY company</a:t>
            </a:r>
            <a:endParaRPr b="1" sz="3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8" title="Screenshot 2026-10-12 at 11.14.22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-1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 title="Screenshot 2026-10-12 at 11.23.05 PM.png"/>
          <p:cNvPicPr preferRelativeResize="0"/>
          <p:nvPr/>
        </p:nvPicPr>
        <p:blipFill rotWithShape="1">
          <a:blip r:embed="rId3">
            <a:alphaModFix/>
          </a:blip>
          <a:srcRect b="8784" l="0" r="0" t="0"/>
          <a:stretch/>
        </p:blipFill>
        <p:spPr>
          <a:xfrm>
            <a:off x="0" y="0"/>
            <a:ext cx="9144003" cy="521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/>
          <p:nvPr/>
        </p:nvSpPr>
        <p:spPr>
          <a:xfrm>
            <a:off x="415350" y="1824462"/>
            <a:ext cx="8313300" cy="156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DELETE FROM orders WHERE id = 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1057 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--</a:t>
            </a:r>
            <a:b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0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AND customer_id = 1</a:t>
            </a:r>
            <a:endParaRPr b="1" sz="3000">
              <a:solidFill>
                <a:srgbClr val="B7B7B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9" title="Screenshot 2026-10-12 at 11.23.05 PM.png"/>
          <p:cNvPicPr preferRelativeResize="0"/>
          <p:nvPr/>
        </p:nvPicPr>
        <p:blipFill rotWithShape="1">
          <a:blip r:embed="rId3">
            <a:alphaModFix/>
          </a:blip>
          <a:srcRect b="8784" l="0" r="0" t="0"/>
          <a:stretch/>
        </p:blipFill>
        <p:spPr>
          <a:xfrm>
            <a:off x="0" y="0"/>
            <a:ext cx="9144003" cy="521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 title="Screenshot 2026-10-12 at 11.23.11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/>
          <p:nvPr/>
        </p:nvSpPr>
        <p:spPr>
          <a:xfrm>
            <a:off x="415350" y="1545450"/>
            <a:ext cx="8313300" cy="205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UPDATE customers</a:t>
            </a:r>
            <a:b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SET email = '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newaddress@acme.example' </a:t>
            </a:r>
            <a:b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WHERE id = 33923 --</a:t>
            </a:r>
            <a:r>
              <a:rPr b="1" lang="en" sz="30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' WHERE id = 1</a:t>
            </a:r>
            <a:endParaRPr b="1" sz="30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30" title="Screenshot 2026-10-12 at 11.23.11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Lesson #2: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000"/>
              <a:t>Just because someone fills out a form doesn't mean they get to run your company.</a:t>
            </a:r>
            <a:endParaRPr sz="3000"/>
          </a:p>
        </p:txBody>
      </p:sp>
      <p:sp>
        <p:nvSpPr>
          <p:cNvPr id="177" name="Google Shape;177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Parameterized queries</a:t>
            </a:r>
            <a:r>
              <a:rPr lang="en" sz="2000"/>
              <a:t> keep user input as data, not SQL instructions.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#3: Command Injection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3" title="Screenshot 2026-10-12 at 11.36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4003" cy="479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 title="Screenshot 2026-10-12 at 11.31.01 PM.png"/>
          <p:cNvPicPr preferRelativeResize="0"/>
          <p:nvPr/>
        </p:nvPicPr>
        <p:blipFill rotWithShape="1">
          <a:blip r:embed="rId4">
            <a:alphaModFix/>
          </a:blip>
          <a:srcRect b="5395" l="2499" r="2108" t="2532"/>
          <a:stretch/>
        </p:blipFill>
        <p:spPr>
          <a:xfrm>
            <a:off x="3382250" y="1207475"/>
            <a:ext cx="5761751" cy="31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 title="Screenshot 2026-10-17 at 3.33.52 PM.png"/>
          <p:cNvPicPr preferRelativeResize="0"/>
          <p:nvPr/>
        </p:nvPicPr>
        <p:blipFill rotWithShape="1">
          <a:blip r:embed="rId5">
            <a:alphaModFix/>
          </a:blip>
          <a:srcRect b="8951" l="6603" r="0" t="6768"/>
          <a:stretch/>
        </p:blipFill>
        <p:spPr>
          <a:xfrm>
            <a:off x="1620300" y="2896025"/>
            <a:ext cx="3934874" cy="224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3" title="Screenshot 2026-10-17 at 3.36.26 PM.png"/>
          <p:cNvPicPr preferRelativeResize="0"/>
          <p:nvPr/>
        </p:nvPicPr>
        <p:blipFill rotWithShape="1">
          <a:blip r:embed="rId6">
            <a:alphaModFix/>
          </a:blip>
          <a:srcRect b="10017" l="2429" r="8927" t="2950"/>
          <a:stretch/>
        </p:blipFill>
        <p:spPr>
          <a:xfrm>
            <a:off x="6133400" y="2966600"/>
            <a:ext cx="3010600" cy="21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4" title="Screenshot 2026-10-17 at 2.11.54 PM.png"/>
          <p:cNvPicPr preferRelativeResize="0"/>
          <p:nvPr/>
        </p:nvPicPr>
        <p:blipFill rotWithShape="1">
          <a:blip r:embed="rId3">
            <a:alphaModFix/>
          </a:blip>
          <a:srcRect b="0" l="6689" r="7665" t="0"/>
          <a:stretch/>
        </p:blipFill>
        <p:spPr>
          <a:xfrm>
            <a:off x="178137" y="555900"/>
            <a:ext cx="4251931" cy="40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475" y="555901"/>
            <a:ext cx="4325400" cy="40316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/>
          <p:nvPr/>
        </p:nvSpPr>
        <p:spPr>
          <a:xfrm>
            <a:off x="415350" y="2105548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Open a command terminal window and explore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5" title="Screenshot 2026-10-12 at 11.36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4129"/>
            <a:ext cx="9144003" cy="479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/>
          <p:nvPr/>
        </p:nvSpPr>
        <p:spPr>
          <a:xfrm>
            <a:off x="415350" y="4110498"/>
            <a:ext cx="8313300" cy="93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Semicolons separate commands on the same line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5" title="Screenshot 2026-10-17 at 3.36.26 PM.png"/>
          <p:cNvPicPr preferRelativeResize="0"/>
          <p:nvPr/>
        </p:nvPicPr>
        <p:blipFill rotWithShape="1">
          <a:blip r:embed="rId4">
            <a:alphaModFix/>
          </a:blip>
          <a:srcRect b="10017" l="2429" r="8927" t="2950"/>
          <a:stretch/>
        </p:blipFill>
        <p:spPr>
          <a:xfrm>
            <a:off x="5394950" y="1735825"/>
            <a:ext cx="3010600" cy="21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6" title="Screenshot 2026-10-12 at 11.42.39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/>
          <p:nvPr/>
        </p:nvSpPr>
        <p:spPr>
          <a:xfrm>
            <a:off x="228600" y="1789812"/>
            <a:ext cx="8686800" cy="156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cat /app/data/vendors.txt | grep -i 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Acme; </a:t>
            </a:r>
            <a:b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whoami; pwd</a:t>
            </a:r>
            <a:endParaRPr b="1" sz="3000">
              <a:solidFill>
                <a:srgbClr val="CC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6" title="Screenshot 2026-10-12 at 11.42.39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7" title="Screenshot 2026-10-12 at 11.42.43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228600" y="1789812"/>
            <a:ext cx="8686800" cy="156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cat /app/data/vendors.txt | grep -i 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Acme; </a:t>
            </a:r>
            <a:b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cat /app/data/internal_notes.txt</a:t>
            </a:r>
            <a:endParaRPr b="1" sz="3000">
              <a:solidFill>
                <a:srgbClr val="CC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7" title="Screenshot 2026-10-12 at 11.42.43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8" title="Screenshot 2026-10-12 at 11.42.46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/>
          <p:nvPr/>
        </p:nvSpPr>
        <p:spPr>
          <a:xfrm>
            <a:off x="228600" y="1789800"/>
            <a:ext cx="8686800" cy="156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cat /app/data/shipping_queue.txt | grep -i "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Acme"; /app/workshop/clear_shipping_queue.sh #</a:t>
            </a:r>
            <a:r>
              <a:rPr b="1" lang="en" sz="30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"</a:t>
            </a:r>
            <a:endParaRPr b="1" sz="3000">
              <a:solidFill>
                <a:srgbClr val="B7B7B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38" title="Screenshot 2026-10-12 at 11.42.46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9" title="Screenshot 2026-10-12 at 11.42.49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9"/>
          <p:cNvSpPr/>
          <p:nvPr/>
        </p:nvSpPr>
        <p:spPr>
          <a:xfrm>
            <a:off x="415350" y="1824462"/>
            <a:ext cx="8313300" cy="156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07522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cat "/app/data/labels/</a:t>
            </a:r>
            <a:r>
              <a:rPr b="1" lang="en" sz="3000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1057.txt"; /app/workshop/redirect_label.sh 1057 #</a:t>
            </a:r>
            <a:r>
              <a:rPr b="1" lang="en" sz="30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.txt"</a:t>
            </a:r>
            <a:br>
              <a:rPr b="1" lang="en" sz="30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(redirect occurs </a:t>
            </a:r>
            <a:r>
              <a:rPr b="1" i="1" lang="en" sz="18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viewing file)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39" title="Screenshot 2026-10-12 at 11.42.49 PM.png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Lesson #3: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000"/>
              <a:t>Your customers shouldn't be able to run your server just because they know how to type.</a:t>
            </a:r>
            <a:endParaRPr sz="3000"/>
          </a:p>
        </p:txBody>
      </p:sp>
      <p:sp>
        <p:nvSpPr>
          <p:cNvPr id="238" name="Google Shape;238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Keep untrusted input separate from the instructions being executed.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1" title="Screenshot 2026-10-10 at 9.24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789" y="854050"/>
            <a:ext cx="1397250" cy="13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1" title="Screenshot 2026-10-10 at 9.24.5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789" y="2222730"/>
            <a:ext cx="1397250" cy="1387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1" title="Screenshot 2026-10-10 at 9.25.1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789" y="3571998"/>
            <a:ext cx="1397250" cy="1397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41"/>
          <p:cNvGraphicFramePr/>
          <p:nvPr/>
        </p:nvGraphicFramePr>
        <p:xfrm>
          <a:off x="2077289" y="18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{AF82FCC9-3644-4D5E-B266-C201CCD6D042}</a:tableStyleId>
              </a:tblPr>
              <a:tblGrid>
                <a:gridCol w="1503725"/>
                <a:gridCol w="3284000"/>
                <a:gridCol w="1954075"/>
              </a:tblGrid>
              <a:tr h="6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Company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Vulnerability</a:t>
                      </a:r>
                      <a:endParaRPr b="1"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Reference</a:t>
                      </a:r>
                      <a:endParaRPr b="1" sz="1800"/>
                    </a:p>
                  </a:txBody>
                  <a:tcPr marT="91425" marB="91425" marR="91425" marL="91425" anchor="ctr"/>
                </a:tc>
              </a:tr>
              <a:tr h="1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Cisco</a:t>
                      </a:r>
                      <a:br>
                        <a:rPr lang="en" sz="1700"/>
                      </a:br>
                      <a:r>
                        <a:rPr lang="en" sz="1700"/>
                        <a:t>(</a:t>
                      </a:r>
                      <a:r>
                        <a:rPr lang="en" sz="1700">
                          <a:solidFill>
                            <a:schemeClr val="dk1"/>
                          </a:solidFill>
                        </a:rPr>
                        <a:t>April '26)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Command injection could give attackers full control of server infrastructure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u="sng">
                          <a:solidFill>
                            <a:schemeClr val="accent1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CVE-2026-20094</a:t>
                      </a:r>
                      <a:endParaRPr sz="17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1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Sangoma</a:t>
                      </a:r>
                      <a:endParaRPr sz="1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(Sep '26)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SQL injection could compromise business telephone systems; exploitation attempts observed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u="sng">
                          <a:solidFill>
                            <a:schemeClr val="accent1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CVE-2026-9586</a:t>
                      </a:r>
                      <a:endParaRPr sz="17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1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Cisco</a:t>
                      </a:r>
                      <a:br>
                        <a:rPr lang="en" sz="1700"/>
                      </a:br>
                      <a:r>
                        <a:rPr lang="en" sz="1700"/>
                        <a:t>(Sep '26)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SQL injection could compromise email security systems; active exploitation confirmed</a:t>
                      </a:r>
                      <a:endParaRPr sz="1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 u="sng">
                          <a:solidFill>
                            <a:schemeClr val="accent1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CVE-2026-76461</a:t>
                      </a:r>
                      <a:endParaRPr sz="17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42"/>
          <p:cNvGrpSpPr/>
          <p:nvPr/>
        </p:nvGrpSpPr>
        <p:grpSpPr>
          <a:xfrm>
            <a:off x="0" y="184282"/>
            <a:ext cx="9144003" cy="4959218"/>
            <a:chOff x="0" y="184282"/>
            <a:chExt cx="9144003" cy="4959218"/>
          </a:xfrm>
        </p:grpSpPr>
        <p:pic>
          <p:nvPicPr>
            <p:cNvPr id="252" name="Google Shape;252;p42" title="Classical Marble Column Icon.png"/>
            <p:cNvPicPr preferRelativeResize="0"/>
            <p:nvPr/>
          </p:nvPicPr>
          <p:blipFill rotWithShape="1">
            <a:blip r:embed="rId3">
              <a:alphaModFix/>
            </a:blip>
            <a:srcRect b="0" l="26206" r="27289" t="0"/>
            <a:stretch/>
          </p:blipFill>
          <p:spPr>
            <a:xfrm>
              <a:off x="853975" y="1021232"/>
              <a:ext cx="993405" cy="207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42" title="Classical Marble Column Icon.png"/>
            <p:cNvPicPr preferRelativeResize="0"/>
            <p:nvPr/>
          </p:nvPicPr>
          <p:blipFill rotWithShape="1">
            <a:blip r:embed="rId3">
              <a:alphaModFix/>
            </a:blip>
            <a:srcRect b="0" l="26206" r="27289" t="0"/>
            <a:stretch/>
          </p:blipFill>
          <p:spPr>
            <a:xfrm>
              <a:off x="3001523" y="1021232"/>
              <a:ext cx="993405" cy="207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42" title="Classical Marble Column Icon.png"/>
            <p:cNvPicPr preferRelativeResize="0"/>
            <p:nvPr/>
          </p:nvPicPr>
          <p:blipFill rotWithShape="1">
            <a:blip r:embed="rId3">
              <a:alphaModFix/>
            </a:blip>
            <a:srcRect b="0" l="26206" r="27289" t="0"/>
            <a:stretch/>
          </p:blipFill>
          <p:spPr>
            <a:xfrm>
              <a:off x="5149072" y="1021232"/>
              <a:ext cx="993405" cy="207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42" title="Classical Marble Column Icon.png"/>
            <p:cNvPicPr preferRelativeResize="0"/>
            <p:nvPr/>
          </p:nvPicPr>
          <p:blipFill rotWithShape="1">
            <a:blip r:embed="rId3">
              <a:alphaModFix/>
            </a:blip>
            <a:srcRect b="0" l="26206" r="27289" t="0"/>
            <a:stretch/>
          </p:blipFill>
          <p:spPr>
            <a:xfrm>
              <a:off x="7296620" y="1021232"/>
              <a:ext cx="993405" cy="2077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42"/>
            <p:cNvSpPr/>
            <p:nvPr/>
          </p:nvSpPr>
          <p:spPr>
            <a:xfrm>
              <a:off x="4685625" y="184282"/>
              <a:ext cx="1920300" cy="74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rgbClr val="07522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Restorative</a:t>
              </a:r>
              <a:endParaRPr b="1" sz="24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390525" y="184282"/>
              <a:ext cx="1920300" cy="74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rgbClr val="07522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Defensive</a:t>
              </a:r>
              <a:endParaRPr b="1" sz="24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6833175" y="184282"/>
              <a:ext cx="1920300" cy="74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rgbClr val="07522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Strategic</a:t>
              </a:r>
              <a:endParaRPr b="1" sz="24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2538075" y="184282"/>
              <a:ext cx="1920300" cy="747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76200">
              <a:solidFill>
                <a:srgbClr val="07522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chemeClr val="dk1"/>
                  </a:solidFill>
                  <a:highlight>
                    <a:srgbClr val="FFFFFF"/>
                  </a:highlight>
                  <a:latin typeface="Calibri"/>
                  <a:ea typeface="Calibri"/>
                  <a:cs typeface="Calibri"/>
                  <a:sym typeface="Calibri"/>
                </a:rPr>
                <a:t>Investigative</a:t>
              </a:r>
              <a:endParaRPr b="1" sz="2400">
                <a:solidFill>
                  <a:srgbClr val="B7B7B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0" name="Google Shape;260;p42" title="Concordia Cybersecurity Emblem Banner.png"/>
            <p:cNvPicPr preferRelativeResize="0"/>
            <p:nvPr/>
          </p:nvPicPr>
          <p:blipFill rotWithShape="1">
            <a:blip r:embed="rId4">
              <a:alphaModFix/>
            </a:blip>
            <a:srcRect b="15667" l="0" r="0" t="13088"/>
            <a:stretch/>
          </p:blipFill>
          <p:spPr>
            <a:xfrm>
              <a:off x="0" y="2970775"/>
              <a:ext cx="9144003" cy="2172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ctrTitle"/>
          </p:nvPr>
        </p:nvSpPr>
        <p:spPr>
          <a:xfrm>
            <a:off x="311700" y="562104"/>
            <a:ext cx="8520600" cy="15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New Concordia Major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Cybersecurity starting Fall '27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3"/>
          <p:cNvSpPr txBox="1"/>
          <p:nvPr>
            <p:ph idx="1" type="subTitle"/>
          </p:nvPr>
        </p:nvSpPr>
        <p:spPr>
          <a:xfrm>
            <a:off x="3132450" y="2732193"/>
            <a:ext cx="2879100" cy="18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Joshua Tallman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Concordia University Irvine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joshua.tallman@cui.edu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43" title="Confident Cybersecurity White Hat Hack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975" y="2536943"/>
            <a:ext cx="1815699" cy="226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 title="Glossy Forest Green Hawk 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675" y="2732168"/>
            <a:ext cx="1878351" cy="18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